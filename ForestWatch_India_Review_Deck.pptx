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d187285-c479-6259-2f22-4c609f9b8e74}">
          <p14:sldIdLst>
            <p14:sldId id="256"/>
            <p14:sldId id="257"/>
          </p14:sldIdLst>
        </p14:section>
        <p14:section name="Methodology" id="{df4a89c6-7e62-ac41-3be7-f41e6860b64f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Results" id="{b10e4d50-1d4d-fde9-6e0a-d76635e04df6}">
          <p14:sldIdLst>
            <p14:sldId id="272"/>
            <p14:sldId id="273"/>
          </p14:sldIdLst>
        </p14:section>
        <p14:section name="Conclusion" id="{0ac99b48-512c-5bba-17f7-ae61f792177c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Kappa</c:v>
                </c:pt>
              </c:strCache>
            </c:strRef>
          </c:tx>
          <c:spPr>
            <a:solidFill>
              <a:srgbClr val="C0532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1A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53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8D1C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8D1C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8D1C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8D1C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8D1C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8D1C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Ours</c:v>
                  </c:pt>
                  <c:pt idx="1">
                    <c:v>Baig</c:v>
                  </c:pt>
                  <c:pt idx="2">
                    <c:v>Agustina</c:v>
                  </c:pt>
                  <c:pt idx="3">
                    <c:v>Salehi (mixed)</c:v>
                  </c:pt>
                  <c:pt idx="4">
                    <c:v>Salehi (raster)</c:v>
                  </c:pt>
                  <c:pt idx="5">
                    <c:v>Lukas</c:v>
                  </c:pt>
                  <c:pt idx="6">
                    <c:v>Legdou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0.78</c:v>
                </c:pt>
                <c:pt idx="1">
                  <c:v>0.72</c:v>
                </c:pt>
                <c:pt idx="2">
                  <c:v>0.786</c:v>
                </c:pt>
                <c:pt idx="3">
                  <c:v>0.76</c:v>
                </c:pt>
                <c:pt idx="4">
                  <c:v>0.705</c:v>
                </c:pt>
                <c:pt idx="5">
                  <c:v>0.82</c:v>
                </c:pt>
                <c:pt idx="6">
                  <c:v>0.721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C1A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43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8D1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2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ForestWatch India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  ·   COMPUTER VISION   ·   CA-ANN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6517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3E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</a:t>
            </a:r>
            <a:pPr indent="0" marL="0">
              <a:buNone/>
            </a:pPr>
            <a:r>
              <a:rPr lang="en-US" sz="6000" b="1" i="1" dirty="0">
                <a:solidFill>
                  <a:srgbClr val="C0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</a:t>
            </a:r>
            <a:pPr indent="0" marL="0">
              <a:buNone/>
            </a:pPr>
            <a:r>
              <a:rPr lang="en-US" sz="6000" b="1" dirty="0">
                <a:solidFill>
                  <a:srgbClr val="F3E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India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D8D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and forecasting urban forest cover change across four Indian cities, using real Sentinel-2 imagery, a custom spectral formula, and a hybrid CA-ANN prediction model.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263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Yuvraj Singh Hajari  ·  23BCE1995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6263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Kumar K  ·  VIT Chennai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Cities lose forest faster than it gets measured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2F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monitoring of urban forest cover still relies on global products built for 30-metre resolution and multi-year lag. A city losing a six-hectare patch this year will not see that loss reflected for seasons. Planners need something finer-grained, faster to re-run, and verifiable against their own city, not a continental average.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89320" y="1691640"/>
            <a:ext cx="5760720" cy="12344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63640" y="18196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Fine-grained detection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22199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Per-city, ~11.7m resolution, not a 30m global average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3108960"/>
            <a:ext cx="5760720" cy="12344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323697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transparent method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363931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re-runnable spectral formula, not a black-box index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4526280"/>
            <a:ext cx="5760720" cy="12344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46542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Forward-looking risk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505663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ranked, actionable list, not just an after-the-fact loss map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years, four cities, real reflectance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2F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comes from Sentinel-2's surface-reflectance product via Google Earth Engine, atmospheric correction already applied. Four bands feed the pipeline: Red, Green, Blue and Near-Infrared, with the Scene Classification Layer masking cloud, shadow and cirrus before compositing.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94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3708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years, 2016–2025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3794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43708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validated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3794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11.7m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43708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pixel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91640"/>
          <a:ext cx="54406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508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8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8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8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km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 km²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Kolkata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km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 km²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km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 km²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km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 km²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STAGE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photo into a forest measurement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480560" cy="45720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NEURAL NETWORK  ·  NO AI  ·  PURE OPENCV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5394960" cy="16916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· FVI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700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(NIR+G−R−B) / (NIR+G+R+B)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12724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Near-infrared folded directly in, so water and vegetation separate in one pass, no second water-mask formula needed.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5394960" cy="16916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4206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988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3-class Otsu threshold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95604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water, built-up land, and forest automatically, recomputed per image rather than hand-tuned.</a:t>
            </a:r>
            <a:endParaRPr lang="en-US" sz="1300" dirty="0"/>
          </a:p>
        </p:txBody>
      </p:sp>
      <p:pic>
        <p:nvPicPr>
          <p:cNvPr id="14" name="Image 0" descr="C:\Users\yuvra\AppData\Local\Temp\claude\c--Users-yuvra-OneDrive-Documents-GitHub-II-Forestwatch\ff02a2d7-eb81-44d6-a5c0-8c674637eb0b\scratchpad\ppt_03_mas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600200"/>
            <a:ext cx="5486400" cy="41605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263640" y="1600200"/>
            <a:ext cx="5486400" cy="4160520"/>
          </a:xfrm>
          <a:prstGeom prst="rect">
            <a:avLst/>
          </a:prstGeom>
          <a:ln w="12700">
            <a:solidFill>
              <a:srgbClr val="D8D1C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satellite tile to live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514600" cy="32918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148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871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Sentinel-2 + GEE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9184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GeoTIFFs on disk, SCL cloud masking, 4 cities × 10 years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44952" y="3438144"/>
            <a:ext cx="365760" cy="256032"/>
          </a:xfrm>
          <a:prstGeom prst="rightArrow">
            <a:avLst/>
          </a:prstGeom>
          <a:solidFill>
            <a:srgbClr val="8A8275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920240"/>
            <a:ext cx="2514600" cy="32918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3320" y="2148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4871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 + Clay + CA-ANN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29184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FVI/Otsu masks, frozen Clay embeddings, trained MLP ensemble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62472" y="3438144"/>
            <a:ext cx="365760" cy="256032"/>
          </a:xfrm>
          <a:prstGeom prst="rightArrow">
            <a:avLst/>
          </a:prstGeom>
          <a:solidFill>
            <a:srgbClr val="8A8275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1920240"/>
            <a:ext cx="2514600" cy="32918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2148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24871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329184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response cache, static image serving, 9 live endpoints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79992" y="3438144"/>
            <a:ext cx="365760" cy="256032"/>
          </a:xfrm>
          <a:prstGeom prst="rightArrow">
            <a:avLst/>
          </a:prstGeom>
          <a:solidFill>
            <a:srgbClr val="8A8275"/>
          </a:solidFill>
          <a:ln/>
        </p:spPr>
      </p:sp>
      <p:sp>
        <p:nvSpPr>
          <p:cNvPr id="19" name="Shape 17"/>
          <p:cNvSpPr/>
          <p:nvPr/>
        </p:nvSpPr>
        <p:spPr>
          <a:xfrm>
            <a:off x="9509760" y="1920240"/>
            <a:ext cx="2514600" cy="32918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38360" y="2148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738360" y="24871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Vite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738360" y="329184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dashboard, scroll-driven explainers, live queries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imagery is fetched, every analysis runs on local cached data: no internet dependency for the live demo.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· DETAILED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layer, request to response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132320" cy="45720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472184"/>
            <a:ext cx="6803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SOURCE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55064"/>
            <a:ext cx="6803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Surface Reflectance via Google Earth Engine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023360" y="1874520"/>
            <a:ext cx="0" cy="228600"/>
          </a:xfrm>
          <a:prstGeom prst="line">
            <a:avLst/>
          </a:prstGeom>
          <a:noFill/>
          <a:ln w="19050">
            <a:solidFill>
              <a:srgbClr val="8A827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7132320" cy="45720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2157984"/>
            <a:ext cx="6803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— static/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340864"/>
            <a:ext cx="6803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GeoTIFFs · cached masks · Clay embeddings · trained models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2560320"/>
            <a:ext cx="0" cy="228600"/>
          </a:xfrm>
          <a:prstGeom prst="line">
            <a:avLst/>
          </a:prstGeom>
          <a:noFill/>
          <a:ln w="19050">
            <a:solidFill>
              <a:srgbClr val="8A827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788920"/>
            <a:ext cx="2255520" cy="7772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2843784"/>
            <a:ext cx="1926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026664"/>
            <a:ext cx="1926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FVI + 3-class Otsu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95600" y="2788920"/>
            <a:ext cx="2255520" cy="7772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60192" y="2843784"/>
            <a:ext cx="1926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v1.5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060192" y="3026664"/>
            <a:ext cx="1926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embeddings, offline only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34000" y="2788920"/>
            <a:ext cx="2255520" cy="7772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98592" y="2843784"/>
            <a:ext cx="1926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CA-ANN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98592" y="3026664"/>
            <a:ext cx="1926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8-seed MLP ensemble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23360" y="3566160"/>
            <a:ext cx="0" cy="228600"/>
          </a:xfrm>
          <a:prstGeom prst="line">
            <a:avLst/>
          </a:prstGeom>
          <a:noFill/>
          <a:ln w="19050">
            <a:solidFill>
              <a:srgbClr val="8A827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" y="3794760"/>
            <a:ext cx="7132320" cy="45720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" y="3849624"/>
            <a:ext cx="6803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 (main.py)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4032504"/>
            <a:ext cx="6803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REST endpoints · in-memory response cache · static image serving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86200" y="4251960"/>
            <a:ext cx="0" cy="228600"/>
          </a:xfrm>
          <a:prstGeom prst="line">
            <a:avLst/>
          </a:prstGeom>
          <a:noFill/>
          <a:ln w="19050">
            <a:solidFill>
              <a:srgbClr val="8A827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4160520" y="4251960"/>
            <a:ext cx="0" cy="228600"/>
          </a:xfrm>
          <a:prstGeom prst="line">
            <a:avLst/>
          </a:prstGeom>
          <a:noFill/>
          <a:ln w="19050">
            <a:solidFill>
              <a:srgbClr val="8A8275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343400" y="4279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 + PNG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7132320" cy="45720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1792" y="4535424"/>
            <a:ext cx="6803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+ Vite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" y="4718304"/>
            <a:ext cx="6803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Landing, guided intro, and a 5-tab dashboard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023360" y="4937760"/>
            <a:ext cx="0" cy="228600"/>
          </a:xfrm>
          <a:prstGeom prst="line">
            <a:avLst/>
          </a:prstGeom>
          <a:noFill/>
          <a:ln w="19050">
            <a:solidFill>
              <a:srgbClr val="8A827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57200" y="5166360"/>
            <a:ext cx="7132320" cy="45720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1792" y="5221224"/>
            <a:ext cx="6803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Browser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" y="5404104"/>
            <a:ext cx="6803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demo, running entirely on localhost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818120" y="1417320"/>
            <a:ext cx="3913632" cy="114300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19288" y="155448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REQUIRED ONLY HERE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019288" y="1828800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D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Imagery is fetched once per city and year, then written to disk. Every later analysis call reads from that cache.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818120" y="2788920"/>
            <a:ext cx="3913632" cy="141732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019288" y="292608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RUNS OFFLINE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019288" y="3200400"/>
            <a:ext cx="3511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Processing, the API, and the UI all run on cached local data, no internet dependency for a live demo. Repeat requests for the same city return in under a second.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818120" y="4480560"/>
            <a:ext cx="3913632" cy="1143000"/>
          </a:xfrm>
          <a:prstGeom prst="rect">
            <a:avLst/>
          </a:prstGeom>
          <a:ln w="12700">
            <a:solidFill>
              <a:srgbClr val="D8D1C2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8019288" y="4590288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ENDPOINTS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019288" y="4846320"/>
            <a:ext cx="3511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4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/cities /years /analyze /compare /predict /risk /conservation-priority /validate-hansen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PIPELINE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questions become one 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11880" cy="21488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92808"/>
            <a:ext cx="411480" cy="411480"/>
          </a:xfrm>
          <a:prstGeom prst="ellipse">
            <a:avLst/>
          </a:prstGeom>
          <a:solidFill>
            <a:srgbClr val="F3EF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048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Clay v1.5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by someone else, never trained by us. One tile in, 1024 numbers out, reduced to 8.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611880" cy="21488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892808"/>
            <a:ext cx="411480" cy="411480"/>
          </a:xfrm>
          <a:prstGeom prst="ellipse">
            <a:avLst/>
          </a:prstGeom>
          <a:solidFill>
            <a:srgbClr val="F3EFE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4048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Hand-built features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7889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numbers, no learning: forest density at 3 scales, distance to the nearest edge.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611880" cy="21488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892808"/>
            <a:ext cx="411480" cy="411480"/>
          </a:xfrm>
          <a:prstGeom prst="ellipse">
            <a:avLst/>
          </a:prstGeom>
          <a:solidFill>
            <a:srgbClr val="F3EFE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4048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12-dim merge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7889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Clay's 8 and our 4, concatenated into one description per pixel.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3611880" cy="21488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270248"/>
            <a:ext cx="411480" cy="411480"/>
          </a:xfrm>
          <a:prstGeom prst="ellipse">
            <a:avLst/>
          </a:prstGeom>
          <a:solidFill>
            <a:srgbClr val="F3EFE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270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7823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network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166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trained part: 12 in, 16, 8, 1 out, a per-pixel change probability.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4069080"/>
            <a:ext cx="3611880" cy="21488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4270248"/>
            <a:ext cx="411480" cy="411480"/>
          </a:xfrm>
          <a:prstGeom prst="ellipse">
            <a:avLst/>
          </a:prstGeom>
          <a:solidFill>
            <a:srgbClr val="F3EFE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4270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7823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10-year history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166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learning, just counting: how much forest changes per year, on average.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069080"/>
            <a:ext cx="3611880" cy="214884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4270248"/>
            <a:ext cx="411480" cy="411480"/>
          </a:xfrm>
          <a:prstGeom prst="ellipse">
            <a:avLst/>
          </a:prstGeom>
          <a:solidFill>
            <a:srgbClr val="C0532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4270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7823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5166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D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every pixel by risk. Spend the historical budget on the riskiest first.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of 6  ·  Clay v1.5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92608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 · pretrained · 8 numbers after reduction</a:t>
            </a:r>
            <a:endParaRPr lang="en-US" sz="1050" dirty="0"/>
          </a:p>
        </p:txBody>
      </p:sp>
      <p:pic>
        <p:nvPicPr>
          <p:cNvPr id="6" name="Image 0" descr="C:\Users\yuvra\OneDrive\Documents\GitHub\II_Forestwatch\forestwatch-frontend\public\diagrams\bts-1-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6128" y="1645920"/>
            <a:ext cx="567944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56128" y="1645920"/>
            <a:ext cx="5679440" cy="3931920"/>
          </a:xfrm>
          <a:prstGeom prst="rect">
            <a:avLst/>
          </a:prstGeom>
          <a:ln w="12700">
            <a:solidFill>
              <a:srgbClr val="D8D1C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80160" y="5687568"/>
            <a:ext cx="9628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model, pretrained on millions of satellite images worldwide. We hand it a tile and it hands back 1024 numbers that summarise what's in that image.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of 6  ·  Our own 4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92608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hand-built · 4 numbers</a:t>
            </a:r>
            <a:endParaRPr lang="en-US" sz="1050" dirty="0"/>
          </a:p>
        </p:txBody>
      </p:sp>
      <p:pic>
        <p:nvPicPr>
          <p:cNvPr id="6" name="Image 0" descr="C:\Users\yuvra\OneDrive\Documents\GitHub\II_Forestwatch\forestwatch-frontend\public\diagrams\bts-2-handbui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6128" y="1645920"/>
            <a:ext cx="567944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56128" y="1645920"/>
            <a:ext cx="5679440" cy="3931920"/>
          </a:xfrm>
          <a:prstGeom prst="rect">
            <a:avLst/>
          </a:prstGeom>
          <a:ln w="12700">
            <a:solidFill>
              <a:srgbClr val="D8D1C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80160" y="5687568"/>
            <a:ext cx="9628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directly, no learning involved: how much forest surrounds this pixel at three different distances, and how close it sits to a forest edge.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of 6  ·  12 numbers per pixel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92608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+ 8 = 12</a:t>
            </a:r>
            <a:endParaRPr lang="en-US" sz="1050" dirty="0"/>
          </a:p>
        </p:txBody>
      </p:sp>
      <p:pic>
        <p:nvPicPr>
          <p:cNvPr id="6" name="Image 0" descr="C:\Users\yuvra\OneDrive\Documents\GitHub\II_Forestwatch\forestwatch-frontend\public\diagrams\bts-3-me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6128" y="1645920"/>
            <a:ext cx="567944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56128" y="1645920"/>
            <a:ext cx="5679440" cy="3931920"/>
          </a:xfrm>
          <a:prstGeom prst="rect">
            <a:avLst/>
          </a:prstGeom>
          <a:ln w="12700">
            <a:solidFill>
              <a:srgbClr val="D8D1C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80160" y="5687568"/>
            <a:ext cx="9628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Clay's 8 and our 4, concatenated. Every pixel in the image now carries this same 12-number description.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of 6  ·  Our neural network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92608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trained by us · 12 → 16 → 8 → 1</a:t>
            </a:r>
            <a:endParaRPr lang="en-US" sz="1050" dirty="0"/>
          </a:p>
        </p:txBody>
      </p:sp>
      <p:pic>
        <p:nvPicPr>
          <p:cNvPr id="6" name="Image 0" descr="C:\Users\yuvra\OneDrive\Documents\GitHub\II_Forestwatch\forestwatch-frontend\public\diagrams\bts-4-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6128" y="1645920"/>
            <a:ext cx="567944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56128" y="1645920"/>
            <a:ext cx="5679440" cy="3931920"/>
          </a:xfrm>
          <a:prstGeom prst="rect">
            <a:avLst/>
          </a:prstGeom>
          <a:ln w="12700">
            <a:solidFill>
              <a:srgbClr val="D8D1C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80160" y="5687568"/>
            <a:ext cx="9628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network we trained ourselves on this project's own data, 12 numbers in, one score out: how likely is this specific pixel to change? This is the only part that learns.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of 6  ·  10 years of history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92608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learning · simple counting</a:t>
            </a:r>
            <a:endParaRPr lang="en-US" sz="1050" dirty="0"/>
          </a:p>
        </p:txBody>
      </p:sp>
      <p:pic>
        <p:nvPicPr>
          <p:cNvPr id="6" name="Image 0" descr="C:\Users\yuvra\OneDrive\Documents\GitHub\II_Forestwatch\forestwatch-frontend\public\diagrams\bts-5-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6128" y="1645920"/>
            <a:ext cx="567944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56128" y="1645920"/>
            <a:ext cx="5679440" cy="3931920"/>
          </a:xfrm>
          <a:prstGeom prst="rect">
            <a:avLst/>
          </a:prstGeom>
          <a:ln w="12700">
            <a:solidFill>
              <a:srgbClr val="D8D1C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80160" y="5687568"/>
            <a:ext cx="9628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Separately, we look at how much forest typically changed year to year across the whole decade. This sets a budget: how many pixels should change, not which ones.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of 6  ·  Put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92608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says WHERE · history says HOW MUCH</a:t>
            </a:r>
            <a:endParaRPr lang="en-US" sz="1050" dirty="0"/>
          </a:p>
        </p:txBody>
      </p:sp>
      <p:pic>
        <p:nvPicPr>
          <p:cNvPr id="6" name="Image 0" descr="C:\Users\yuvra\OneDrive\Documents\GitHub\II_Forestwatch\forestwatch-frontend\public\diagrams\bts-6-comb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6128" y="1645920"/>
            <a:ext cx="567944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56128" y="1645920"/>
            <a:ext cx="5679440" cy="3931920"/>
          </a:xfrm>
          <a:prstGeom prst="rect">
            <a:avLst/>
          </a:prstGeom>
          <a:ln w="12700">
            <a:solidFill>
              <a:srgbClr val="D8D1C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80160" y="5687568"/>
            <a:ext cx="9628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ranks every pixel by risk. The history sets how many pixels get to change. Rank the candidates, spend the budget on the riskiest ones first: that's the projected map.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DETAILED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tile to ranked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132320" cy="438912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481328"/>
            <a:ext cx="310896" cy="310896"/>
          </a:xfrm>
          <a:prstGeom prst="ellipse">
            <a:avLst/>
          </a:prstGeom>
          <a:solidFill>
            <a:srgbClr val="F3EF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17320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Sentinel-2 imagery, 2016–2025, 4 cities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23360" y="1856232"/>
            <a:ext cx="0" cy="128016"/>
          </a:xfrm>
          <a:prstGeom prst="line">
            <a:avLst/>
          </a:prstGeom>
          <a:noFill/>
          <a:ln w="19050">
            <a:solidFill>
              <a:srgbClr val="8A827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1984248"/>
            <a:ext cx="7132320" cy="438912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048256"/>
            <a:ext cx="310896" cy="310896"/>
          </a:xfrm>
          <a:prstGeom prst="ellipse">
            <a:avLst/>
          </a:prstGeom>
          <a:solidFill>
            <a:srgbClr val="F3EFE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84248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FVI per pixel: (NIR+G−R−B)/(NIR+G+R+B)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23360" y="2423160"/>
            <a:ext cx="0" cy="128016"/>
          </a:xfrm>
          <a:prstGeom prst="line">
            <a:avLst/>
          </a:prstGeom>
          <a:noFill/>
          <a:ln w="19050">
            <a:solidFill>
              <a:srgbClr val="8A827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2551176"/>
            <a:ext cx="7132320" cy="438912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" y="2615184"/>
            <a:ext cx="310896" cy="310896"/>
          </a:xfrm>
          <a:prstGeom prst="ellipse">
            <a:avLst/>
          </a:prstGeom>
          <a:solidFill>
            <a:srgbClr val="F3EFE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551176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Otsu → forest / water / built-up mask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023360" y="2990088"/>
            <a:ext cx="0" cy="128016"/>
          </a:xfrm>
          <a:prstGeom prst="line">
            <a:avLst/>
          </a:prstGeom>
          <a:noFill/>
          <a:ln w="19050">
            <a:solidFill>
              <a:srgbClr val="8A827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3118104"/>
            <a:ext cx="7132320" cy="438912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3182112"/>
            <a:ext cx="310896" cy="310896"/>
          </a:xfrm>
          <a:prstGeom prst="ellipse">
            <a:avLst/>
          </a:prstGeom>
          <a:solidFill>
            <a:srgbClr val="F3EFE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118104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4 hand-built + Clay v1.5 (12-dim)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023360" y="3557016"/>
            <a:ext cx="0" cy="128016"/>
          </a:xfrm>
          <a:prstGeom prst="line">
            <a:avLst/>
          </a:prstGeom>
          <a:noFill/>
          <a:ln w="19050">
            <a:solidFill>
              <a:srgbClr val="8A82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" y="3685032"/>
            <a:ext cx="7132320" cy="438912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" y="3749040"/>
            <a:ext cx="310896" cy="310896"/>
          </a:xfrm>
          <a:prstGeom prst="ellipse">
            <a:avLst/>
          </a:prstGeom>
          <a:solidFill>
            <a:srgbClr val="F3EFE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685032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CA-ANN: 8-seed MLP ensemble, calibrated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023360" y="4123944"/>
            <a:ext cx="0" cy="128016"/>
          </a:xfrm>
          <a:prstGeom prst="line">
            <a:avLst/>
          </a:prstGeom>
          <a:noFill/>
          <a:ln w="19050">
            <a:solidFill>
              <a:srgbClr val="8A827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7200" y="4251960"/>
            <a:ext cx="7132320" cy="438912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" y="4315968"/>
            <a:ext cx="310896" cy="310896"/>
          </a:xfrm>
          <a:prstGeom prst="ellipse">
            <a:avLst/>
          </a:prstGeom>
          <a:solidFill>
            <a:srgbClr val="F3EFE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1792" y="4315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251960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Markov rate, 3-year-gap filtered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023360" y="4690872"/>
            <a:ext cx="0" cy="128016"/>
          </a:xfrm>
          <a:prstGeom prst="line">
            <a:avLst/>
          </a:prstGeom>
          <a:noFill/>
          <a:ln w="19050">
            <a:solidFill>
              <a:srgbClr val="8A827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57200" y="4818888"/>
            <a:ext cx="7132320" cy="438912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" y="4882896"/>
            <a:ext cx="310896" cy="310896"/>
          </a:xfrm>
          <a:prstGeom prst="ellipse">
            <a:avLst/>
          </a:prstGeom>
          <a:solidFill>
            <a:srgbClr val="F3EFE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1792" y="4882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818888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score, spend the budget → projected map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589520" y="2761488"/>
            <a:ext cx="228600" cy="0"/>
          </a:xfrm>
          <a:prstGeom prst="line">
            <a:avLst/>
          </a:prstGeom>
          <a:noFill/>
          <a:ln w="19050">
            <a:solidFill>
              <a:srgbClr val="8A8275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194560" y="5257800"/>
            <a:ext cx="0" cy="128016"/>
          </a:xfrm>
          <a:prstGeom prst="line">
            <a:avLst/>
          </a:prstGeom>
          <a:noFill/>
          <a:ln w="19050">
            <a:solidFill>
              <a:srgbClr val="8A8275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852160" y="5257800"/>
            <a:ext cx="0" cy="128016"/>
          </a:xfrm>
          <a:prstGeom prst="line">
            <a:avLst/>
          </a:prstGeom>
          <a:noFill/>
          <a:ln w="19050">
            <a:solidFill>
              <a:srgbClr val="8A8275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57200" y="5385816"/>
            <a:ext cx="3474720" cy="566928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21792" y="544068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21792" y="5623560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Heatmap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114800" y="5385816"/>
            <a:ext cx="3474720" cy="566928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279392" y="544068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4279392" y="5623560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Priority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818120" y="2414016"/>
            <a:ext cx="3913632" cy="100584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982712" y="24688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CV-ONLY OUTPUT · DETECTION &amp; COMPARE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7982712" y="2651760"/>
            <a:ext cx="3584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Per-year stats and the two-year diff map (0.1 ha filter). Pure computer vision, no CA-ANN involved.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818120" y="5294376"/>
            <a:ext cx="3913632" cy="777240"/>
          </a:xfrm>
          <a:prstGeom prst="rect">
            <a:avLst/>
          </a:prstGeom>
          <a:ln w="12700">
            <a:solidFill>
              <a:srgbClr val="D8D1C2"/>
            </a:solidFill>
            <a:prstDash val="dash"/>
          </a:ln>
        </p:spPr>
      </p:sp>
      <p:sp>
        <p:nvSpPr>
          <p:cNvPr id="51" name="Text 49"/>
          <p:cNvSpPr txBox="1"/>
          <p:nvPr/>
        </p:nvSpPr>
        <p:spPr>
          <a:xfrm>
            <a:off x="8019288" y="5367528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8019288" y="5568696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testing (16 splits) + an external Hansen GFC cross-check → Kappa 0.78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36-pixel tile, start to finish</a:t>
            </a:r>
            <a:endParaRPr lang="en-US" sz="3200" dirty="0"/>
          </a:p>
        </p:txBody>
      </p:sp>
      <p:pic>
        <p:nvPicPr>
          <p:cNvPr id="4" name="Image 0" descr="C:\Users\yuvra\OneDrive\Documents\GitHub\II_Forestwatch\forestwatch-frontend\public\diagrams\bts-7-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4304" y="1508760"/>
            <a:ext cx="5963087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14304" y="1508760"/>
            <a:ext cx="5963087" cy="4663440"/>
          </a:xfrm>
          <a:prstGeom prst="rect">
            <a:avLst/>
          </a:prstGeom>
          <a:ln w="12700">
            <a:solidFill>
              <a:srgbClr val="D8D1C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SPECTRAL FORMULA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formula vs. the two-step standard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394960" cy="160020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· TWO FORMULAS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2996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NDVI = (NIR−R) / (NIR+R)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NDWI = (G−NIR) / (G+NIR)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separately, one for vegetation, one for water, then combined as two masks.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440680" cy="160020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· ONE FORMULA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029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FVI = (NIR+G−R−B) / (NIR+G+R+B)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4871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built into one ratio: no second mask that has to agree with the first at every boundary pixel.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5394960" cy="228600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639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D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CHENNAI, ~31% OF FRAME IS WATER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977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3.37%  </a:t>
            </a:r>
            <a:pPr indent="0" marL="0">
              <a:buNone/>
            </a:pPr>
            <a:r>
              <a:rPr lang="en-US" sz="1400" dirty="0">
                <a:solidFill>
                  <a:srgbClr val="D8D1C2"/>
                </a:solidFill>
              </a:rPr>
              <a:t>NDVI alone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4988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B8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0.00%  </a:t>
            </a:r>
            <a:pPr indent="0" marL="0">
              <a:buNone/>
            </a:pPr>
            <a:r>
              <a:rPr lang="en-US" sz="1400" dirty="0">
                <a:solidFill>
                  <a:srgbClr val="D8D1C2"/>
                </a:solidFill>
              </a:rPr>
              <a:t>FVI alone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water misclassified as forest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474720"/>
            <a:ext cx="5440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F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advantage is real but conditional: Bengaluru and Delhi have little water in frame, so both approaches tie there. The win shows up specifically where it matters, in water-heavy scenes.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Kappa, one-year horizon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61264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995160" y="1691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995160" y="23774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Kappa, ahead of 4 of 6 published configurations compared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995160" y="3200400"/>
            <a:ext cx="4754880" cy="0"/>
          </a:xfrm>
          <a:prstGeom prst="line">
            <a:avLst/>
          </a:prstGeom>
          <a:noFill/>
          <a:ln w="12700">
            <a:solidFill>
              <a:srgbClr val="D8D1C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95160" y="33101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cities validated end to end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995160" y="4160520"/>
            <a:ext cx="4754880" cy="0"/>
          </a:xfrm>
          <a:prstGeom prst="line">
            <a:avLst/>
          </a:prstGeom>
          <a:noFill/>
          <a:ln w="12700">
            <a:solidFill>
              <a:srgbClr val="D8D1C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95160" y="42702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Hansen Global Forest Change, an independent external dataset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995160" y="5120640"/>
            <a:ext cx="4754880" cy="0"/>
          </a:xfrm>
          <a:prstGeom prst="line">
            <a:avLst/>
          </a:prstGeom>
          <a:noFill/>
          <a:ln w="12700">
            <a:solidFill>
              <a:srgbClr val="D8D1C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95160" y="52303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live, queryable system, not a one-off offline script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SYSTEM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looks like, running</a:t>
            </a:r>
            <a:endParaRPr lang="en-US" sz="3200" dirty="0"/>
          </a:p>
        </p:txBody>
      </p:sp>
      <p:pic>
        <p:nvPicPr>
          <p:cNvPr id="4" name="Image 0" descr="C:\Users\yuvra\AppData\Local\Temp\claude\c--Users-yuvra-OneDrive-Documents-GitHub-II-Forestwatch\ff02a2d7-eb81-44d6-a5c0-8c674637eb0b\scratchpad\ppt2_compare_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00200"/>
            <a:ext cx="5486400" cy="2240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600200"/>
            <a:ext cx="5486400" cy="2240280"/>
          </a:xfrm>
          <a:prstGeom prst="rect">
            <a:avLst/>
          </a:prstGeom>
          <a:ln w="12700">
            <a:solidFill>
              <a:srgbClr val="D8D1C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737360" cy="347472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66928" y="1600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Years</a:t>
            </a:r>
            <a:endParaRPr lang="en-US" sz="1100" dirty="0"/>
          </a:p>
        </p:txBody>
      </p:sp>
      <p:pic>
        <p:nvPicPr>
          <p:cNvPr id="8" name="Image 1" descr="C:\Users\yuvra\AppData\Local\Temp\claude\c--Users-yuvra-OneDrive-Documents-GitHub-II-Forestwatch\ff02a2d7-eb81-44d6-a5c0-8c674637eb0b\scratchpad\ppt_07_predict_work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00200"/>
            <a:ext cx="5486400" cy="22402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17920" y="1600200"/>
            <a:ext cx="5486400" cy="2240280"/>
          </a:xfrm>
          <a:prstGeom prst="rect">
            <a:avLst/>
          </a:prstGeom>
          <a:ln w="12700">
            <a:solidFill>
              <a:srgbClr val="D8D1C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217920" y="1600200"/>
            <a:ext cx="1737360" cy="347472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327648" y="1600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pic>
        <p:nvPicPr>
          <p:cNvPr id="12" name="Image 2" descr="C:\Users\yuvra\AppData\Local\Temp\claude\c--Users-yuvra-OneDrive-Documents-GitHub-II-Forestwatch\ff02a2d7-eb81-44d6-a5c0-8c674637eb0b\scratchpad\ppt_08_risk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4114800"/>
            <a:ext cx="5486400" cy="22402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57200" y="4114800"/>
            <a:ext cx="5486400" cy="2240280"/>
          </a:xfrm>
          <a:prstGeom prst="rect">
            <a:avLst/>
          </a:prstGeom>
          <a:ln w="12700">
            <a:solidFill>
              <a:srgbClr val="D8D1C2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57200" y="4114800"/>
            <a:ext cx="1737360" cy="347472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566928" y="4114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Heatmap</a:t>
            </a:r>
            <a:endParaRPr lang="en-US" sz="1100" dirty="0"/>
          </a:p>
        </p:txBody>
      </p:sp>
      <p:pic>
        <p:nvPicPr>
          <p:cNvPr id="16" name="Image 3" descr="C:\Users\yuvra\AppData\Local\Temp\claude\c--Users-yuvra-OneDrive-Documents-GitHub-II-Forestwatch\ff02a2d7-eb81-44d6-a5c0-8c674637eb0b\scratchpad\ppt2_conservatio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4114800"/>
            <a:ext cx="5486400" cy="22402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17920" y="4114800"/>
            <a:ext cx="5486400" cy="2240280"/>
          </a:xfrm>
          <a:prstGeom prst="rect">
            <a:avLst/>
          </a:prstGeom>
          <a:ln w="12700">
            <a:solidFill>
              <a:srgbClr val="D8D1C2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217920" y="4114800"/>
            <a:ext cx="1737360" cy="347472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6327648" y="4114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Priority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922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E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actually new here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0"/>
          </a:xfrm>
          <a:prstGeom prst="line">
            <a:avLst/>
          </a:prstGeom>
          <a:noFill/>
          <a:ln w="12700">
            <a:solidFill>
              <a:srgbClr val="4A44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2585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7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2402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EAE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spectral formula, FVI, replacing a two-step industry pipeline, measurably better in water-heavy scenes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10515600" cy="0"/>
          </a:xfrm>
          <a:prstGeom prst="line">
            <a:avLst/>
          </a:prstGeom>
          <a:noFill/>
          <a:ln w="12700">
            <a:solidFill>
              <a:srgbClr val="4A44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729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7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31546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EAE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geospatial foundation model, Clay v1.5, brought into a CA-ANN pipeline: none of the six comparison studies do this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977640"/>
            <a:ext cx="10515600" cy="0"/>
          </a:xfrm>
          <a:prstGeom prst="line">
            <a:avLst/>
          </a:prstGeom>
          <a:noFill/>
          <a:ln w="12700">
            <a:solidFill>
              <a:srgbClr val="4A44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873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7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40690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EAE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will change and which pixels will change, kept as two separate questions inside the CA-ANN step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892040"/>
            <a:ext cx="10515600" cy="0"/>
          </a:xfrm>
          <a:prstGeom prst="line">
            <a:avLst/>
          </a:prstGeom>
          <a:noFill/>
          <a:ln w="12700">
            <a:solidFill>
              <a:srgbClr val="4A44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0017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7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9834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EAE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cities validated end to end, checked against an independent external dataset, deployed as a live system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989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3E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estWatch">
  <a:themeElements>
    <a:clrScheme name="ForestWatch">
      <a:dk1>
        <a:srgbClr val="1C1A17"/>
      </a:dk1>
      <a:lt1>
        <a:srgbClr val="F3EFE7"/>
      </a:lt1>
      <a:dk2>
        <a:srgbClr val="2F5D42"/>
      </a:dk2>
      <a:lt2>
        <a:srgbClr val="EAE5D9"/>
      </a:lt2>
      <a:accent1>
        <a:srgbClr val="C0532A"/>
      </a:accent1>
      <a:accent2>
        <a:srgbClr val="2F5D42"/>
      </a:accent2>
      <a:accent3>
        <a:srgbClr val="8A8275"/>
      </a:accent3>
      <a:accent4>
        <a:srgbClr val="4A443C"/>
      </a:accent4>
      <a:accent5>
        <a:srgbClr val="E8714A"/>
      </a:accent5>
      <a:accent6>
        <a:srgbClr val="D8D1C2"/>
      </a:accent6>
      <a:hlink>
        <a:srgbClr val="C0532A"/>
      </a:hlink>
      <a:folHlink>
        <a:srgbClr val="8A8275"/>
      </a:folHlink>
    </a:clrScheme>
    <a:fontScheme name="ForestWa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2026-10-21T06:53:22Z</dcterms:created>
  <dcterms:modified xsi:type="dcterms:W3CDTF">2026-10-21T06:53:22Z</dcterms:modified>
</cp:coreProperties>
</file>