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charts/chart3.xml" ContentType="application/vnd.openxmlformats-officedocument.drawingml.chart+xml"/>
  <Override PartName="/ppt/notesSlides/notesSlide17.xml" ContentType="application/vnd.openxmlformats-officedocument.presentationml.notesSlide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0" r:id="rId4"/>
    <p:sldId id="275" r:id="rId5"/>
    <p:sldId id="259" r:id="rId6"/>
    <p:sldId id="272" r:id="rId7"/>
    <p:sldId id="258" r:id="rId8"/>
    <p:sldId id="260" r:id="rId9"/>
    <p:sldId id="274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D02191-2AF2-4690-AC60-75AC039AB11A}" v="3" dt="2026-10-12T15:44:23.7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8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uvraj Hajari" userId="cf6c0d0461fb0f84" providerId="LiveId" clId="{3BAC16FC-1FF1-4042-BBBE-189E7D0F2C0B}"/>
    <pc:docChg chg="addSld delSld modSld sldOrd">
      <pc:chgData name="Yuvraj Hajari" userId="cf6c0d0461fb0f84" providerId="LiveId" clId="{3BAC16FC-1FF1-4042-BBBE-189E7D0F2C0B}" dt="2026-10-12T15:45:06.592" v="15" actId="47"/>
      <pc:docMkLst>
        <pc:docMk/>
      </pc:docMkLst>
      <pc:sldChg chg="ord">
        <pc:chgData name="Yuvraj Hajari" userId="cf6c0d0461fb0f84" providerId="LiveId" clId="{3BAC16FC-1FF1-4042-BBBE-189E7D0F2C0B}" dt="2026-10-12T15:44:37.809" v="14"/>
        <pc:sldMkLst>
          <pc:docMk/>
          <pc:sldMk cId="0" sldId="258"/>
        </pc:sldMkLst>
      </pc:sldChg>
      <pc:sldChg chg="del">
        <pc:chgData name="Yuvraj Hajari" userId="cf6c0d0461fb0f84" providerId="LiveId" clId="{3BAC16FC-1FF1-4042-BBBE-189E7D0F2C0B}" dt="2026-10-12T15:45:06.592" v="15" actId="47"/>
        <pc:sldMkLst>
          <pc:docMk/>
          <pc:sldMk cId="0" sldId="268"/>
        </pc:sldMkLst>
      </pc:sldChg>
      <pc:sldChg chg="add ord">
        <pc:chgData name="Yuvraj Hajari" userId="cf6c0d0461fb0f84" providerId="LiveId" clId="{3BAC16FC-1FF1-4042-BBBE-189E7D0F2C0B}" dt="2026-10-12T15:44:34.375" v="12"/>
        <pc:sldMkLst>
          <pc:docMk/>
          <pc:sldMk cId="0" sldId="272"/>
        </pc:sldMkLst>
      </pc:sldChg>
      <pc:sldChg chg="add ord">
        <pc:chgData name="Yuvraj Hajari" userId="cf6c0d0461fb0f84" providerId="LiveId" clId="{3BAC16FC-1FF1-4042-BBBE-189E7D0F2C0B}" dt="2026-10-12T15:36:20.811" v="4"/>
        <pc:sldMkLst>
          <pc:docMk/>
          <pc:sldMk cId="0" sldId="274"/>
        </pc:sldMkLst>
      </pc:sldChg>
      <pc:sldChg chg="add ord setBg">
        <pc:chgData name="Yuvraj Hajari" userId="cf6c0d0461fb0f84" providerId="LiveId" clId="{3BAC16FC-1FF1-4042-BBBE-189E7D0F2C0B}" dt="2026-10-12T15:39:13.511" v="9"/>
        <pc:sldMkLst>
          <pc:docMk/>
          <pc:sldMk cId="0" sldId="275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666666"/>
                </a:solidFill>
                <a:latin typeface="Calibri"/>
              </a:rPr>
              <a:t>Chennai — detected forest area by year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Forest area (ha)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607.5</c:v>
                </c:pt>
                <c:pt idx="1">
                  <c:v>743.8</c:v>
                </c:pt>
                <c:pt idx="2">
                  <c:v>664.3</c:v>
                </c:pt>
                <c:pt idx="3">
                  <c:v>773.7</c:v>
                </c:pt>
                <c:pt idx="4">
                  <c:v>779.4</c:v>
                </c:pt>
                <c:pt idx="5">
                  <c:v>925.7</c:v>
                </c:pt>
                <c:pt idx="6">
                  <c:v>816.6</c:v>
                </c:pt>
                <c:pt idx="7">
                  <c:v>816.2</c:v>
                </c:pt>
                <c:pt idx="8">
                  <c:v>779.2</c:v>
                </c:pt>
                <c:pt idx="9">
                  <c:v>872.5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49-493A-BC09-FA59B785A0B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666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DDDD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b="0" i="0" u="none" strike="noStrike">
                    <a:solidFill>
                      <a:srgbClr val="000000"/>
                    </a:solidFill>
                    <a:latin typeface="Arial"/>
                  </a:rPr>
                  <a:t>hectares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Density-heuristic baseline</c:v>
                </c:pt>
              </c:strCache>
            </c:strRef>
          </c:tx>
          <c:spPr>
            <a:solidFill>
              <a:srgbClr val="6B6B63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1A1A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1-year</c:v>
                </c:pt>
                <c:pt idx="1">
                  <c:v>3-year</c:v>
                </c:pt>
                <c:pt idx="2">
                  <c:v>6-year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0.68899999999999995</c:v>
                </c:pt>
                <c:pt idx="1">
                  <c:v>0.55600000000000005</c:v>
                </c:pt>
                <c:pt idx="2">
                  <c:v>0.28299999999999997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1E-4891-AA07-927786CAE1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CA-ANN + Clay (8-seed ensemble)</c:v>
                </c:pt>
              </c:strCache>
            </c:strRef>
          </c:tx>
          <c:spPr>
            <a:solidFill>
              <a:srgbClr val="2C5F3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1A1A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1-year</c:v>
                </c:pt>
                <c:pt idx="1">
                  <c:v>3-year</c:v>
                </c:pt>
                <c:pt idx="2">
                  <c:v>6-year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0.68899999999999995</c:v>
                </c:pt>
                <c:pt idx="1">
                  <c:v>0.56000000000000005</c:v>
                </c:pt>
                <c:pt idx="2">
                  <c:v>0.30499999999999999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A1E-4891-AA07-927786CAE12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"/>
        </c:scaling>
        <c:delete val="0"/>
        <c:axPos val="l"/>
        <c:majorGridlines>
          <c:spPr>
            <a:ln w="9525" cap="flat">
              <a:solidFill>
                <a:srgbClr val="DEDAD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6B63"/>
                    </a:solidFill>
                    <a:latin typeface="+mn-lt"/>
                  </a:defRPr>
                </a:pPr>
                <a:r>
                  <a:rPr lang="en-IN" sz="1100" b="0" i="0" u="none" strike="noStrike">
                    <a:solidFill>
                      <a:srgbClr val="6B6B63"/>
                    </a:solidFill>
                    <a:latin typeface="+mn-lt"/>
                  </a:rPr>
                  <a:t>Cohen's Kappa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Kappa delta vs. baseline (6-year)</c:v>
                </c:pt>
              </c:strCache>
            </c:strRef>
          </c:tx>
          <c:spPr>
            <a:solidFill>
              <a:srgbClr val="2C5F3D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B55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7A2-4AA8-9028-264D14BEC6DC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7A2-4AA8-9028-264D14BEC6DC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87A2-4AA8-9028-264D14BEC6DC}"/>
              </c:ext>
            </c:extLst>
          </c:dPt>
          <c:dPt>
            <c:idx val="3"/>
            <c:invertIfNegative val="0"/>
            <c:bubble3D val="0"/>
            <c:spPr>
              <a:solidFill>
                <a:srgbClr val="B55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7A2-4AA8-9028-264D14BEC6DC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87A2-4AA8-9028-264D14BEC6DC}"/>
              </c:ext>
            </c:extLst>
          </c:dPt>
          <c:dLbls>
            <c:numFmt formatCode="\+0.0000;\-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1A1A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2-city
pooled</c:v>
                </c:pt>
                <c:pt idx="1">
                  <c:v>3-city
pooled</c:v>
                </c:pt>
                <c:pt idx="2">
                  <c:v>4-city
pooled</c:v>
                </c:pt>
                <c:pt idx="3">
                  <c:v>Bengaluru
single seed</c:v>
                </c:pt>
                <c:pt idx="4">
                  <c:v>Bengaluru
8-seed ensemble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-2.3300000000000001E-2</c:v>
                </c:pt>
                <c:pt idx="1">
                  <c:v>8.0000000000000002E-3</c:v>
                </c:pt>
                <c:pt idx="2">
                  <c:v>1.89E-2</c:v>
                </c:pt>
                <c:pt idx="3">
                  <c:v>-4.7999999999999996E-3</c:v>
                </c:pt>
                <c:pt idx="4">
                  <c:v>2.1399999999999999E-2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7A2-4AA8-9028-264D14BEC6D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EDAD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6B63"/>
                    </a:solidFill>
                    <a:latin typeface="+mn-lt"/>
                  </a:defRPr>
                </a:pPr>
                <a:r>
                  <a:rPr lang="en-IN" sz="1100" b="0" i="0" u="none" strike="noStrike">
                    <a:solidFill>
                      <a:srgbClr val="6B6B63"/>
                    </a:solidFill>
                    <a:latin typeface="+mn-lt"/>
                  </a:rPr>
                  <a:t>Kappa delta vs. baseline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Baig et al. (Selangor)</c:v>
                </c:pt>
              </c:strCache>
            </c:strRef>
          </c:tx>
          <c:spPr>
            <a:solidFill>
              <a:srgbClr val="6B6B63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1A1A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Baig et al.
(Selangor)</c:v>
                </c:pt>
                <c:pt idx="1">
                  <c:v>Agustina et al.
(Cirebon, 10yr)</c:v>
                </c:pt>
                <c:pt idx="2">
                  <c:v>Tehran study
(mixed, 10yr)</c:v>
                </c:pt>
                <c:pt idx="3">
                  <c:v>Tehran study
(raster, 10yr)</c:v>
                </c:pt>
                <c:pt idx="4">
                  <c:v>This work
(1yr)</c:v>
                </c:pt>
                <c:pt idx="5">
                  <c:v>This work
(6yr)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CA-498E-A9FE-2D8CE2D788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Agustina et al. (Cirebon, 10yr)</c:v>
                </c:pt>
              </c:strCache>
            </c:strRef>
          </c:tx>
          <c:spPr>
            <a:solidFill>
              <a:srgbClr val="6B6B63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1A1A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Baig et al.
(Selangor)</c:v>
                </c:pt>
                <c:pt idx="1">
                  <c:v>Agustina et al.
(Cirebon, 10yr)</c:v>
                </c:pt>
                <c:pt idx="2">
                  <c:v>Tehran study
(mixed, 10yr)</c:v>
                </c:pt>
                <c:pt idx="3">
                  <c:v>Tehran study
(raster, 10yr)</c:v>
                </c:pt>
                <c:pt idx="4">
                  <c:v>This work
(1yr)</c:v>
                </c:pt>
                <c:pt idx="5">
                  <c:v>This work
(6yr)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0.78600000000000003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6CA-498E-A9FE-2D8CE2D788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Tehran study (mixed, 10yr)</c:v>
                </c:pt>
              </c:strCache>
            </c:strRef>
          </c:tx>
          <c:spPr>
            <a:solidFill>
              <a:srgbClr val="6B6B63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1A1A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Baig et al.
(Selangor)</c:v>
                </c:pt>
                <c:pt idx="1">
                  <c:v>Agustina et al.
(Cirebon, 10yr)</c:v>
                </c:pt>
                <c:pt idx="2">
                  <c:v>Tehran study
(mixed, 10yr)</c:v>
                </c:pt>
                <c:pt idx="3">
                  <c:v>Tehran study
(raster, 10yr)</c:v>
                </c:pt>
                <c:pt idx="4">
                  <c:v>This work
(1yr)</c:v>
                </c:pt>
                <c:pt idx="5">
                  <c:v>This work
(6yr)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2">
                  <c:v>0.76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6CA-498E-A9FE-2D8CE2D788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Tehran study (raster, 10yr)</c:v>
                </c:pt>
              </c:strCache>
            </c:strRef>
          </c:tx>
          <c:spPr>
            <a:solidFill>
              <a:srgbClr val="6B6B63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1A1A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Baig et al.
(Selangor)</c:v>
                </c:pt>
                <c:pt idx="1">
                  <c:v>Agustina et al.
(Cirebon, 10yr)</c:v>
                </c:pt>
                <c:pt idx="2">
                  <c:v>Tehran study
(mixed, 10yr)</c:v>
                </c:pt>
                <c:pt idx="3">
                  <c:v>Tehran study
(raster, 10yr)</c:v>
                </c:pt>
                <c:pt idx="4">
                  <c:v>This work
(1yr)</c:v>
                </c:pt>
                <c:pt idx="5">
                  <c:v>This work
(6yr)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3">
                  <c:v>0.70499999999999996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6CA-498E-A9FE-2D8CE2D788D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This work (1yr)</c:v>
                </c:pt>
              </c:strCache>
            </c:strRef>
          </c:tx>
          <c:spPr>
            <a:solidFill>
              <a:srgbClr val="2C5F3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1A1A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Baig et al.
(Selangor)</c:v>
                </c:pt>
                <c:pt idx="1">
                  <c:v>Agustina et al.
(Cirebon, 10yr)</c:v>
                </c:pt>
                <c:pt idx="2">
                  <c:v>Tehran study
(mixed, 10yr)</c:v>
                </c:pt>
                <c:pt idx="3">
                  <c:v>Tehran study
(raster, 10yr)</c:v>
                </c:pt>
                <c:pt idx="4">
                  <c:v>This work
(1yr)</c:v>
                </c:pt>
                <c:pt idx="5">
                  <c:v>This work
(6yr)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4">
                  <c:v>0.68899999999999995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6CA-498E-A9FE-2D8CE2D788D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9525" cap="flat">
              <a:solidFill>
                <a:srgbClr val="DEDAD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6B63"/>
                    </a:solidFill>
                    <a:latin typeface="+mn-lt"/>
                  </a:defRPr>
                </a:pPr>
                <a:r>
                  <a:rPr lang="en-IN" sz="1100" b="0" i="0" u="none" strike="noStrike">
                    <a:solidFill>
                      <a:srgbClr val="6B6B63"/>
                    </a:solidFill>
                    <a:latin typeface="+mn-lt"/>
                  </a:rPr>
                  <a:t>Kappa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9771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2860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ForestWatch </a:t>
            </a:r>
            <a:r>
              <a:rPr lang="en-US" sz="4800" b="1" i="1" dirty="0">
                <a:solidFill>
                  <a:srgbClr val="E2A3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00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9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Forest Cover Monitoring and Multi-Year Prediction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9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Sentinel-2 Imagery and Geospatial Foundation Models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989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7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Yuvraj Singh Hajari  |  23BCE1995  |  B.Tech CSE Core  |  Guide: Kumar 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Tracking urban forest loss is hard to do cheaply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cities have no routine, low-cost, repeatable way to measure forest change. Municipal surveys are slow and inconsistent between cycles. Commercial satellite subscriptions are expensive. Free Sentinel-2 imagery solves the cost problem, but only if the data is actually used correctly.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92240" y="17373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184708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cities validated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27157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annual imagery, 2016–2025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3474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 km²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358444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area per city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ForestWatch India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455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RECAP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Measuring Green Cover from Satellite Imagery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43688" y="1587588"/>
            <a:ext cx="4924847" cy="2721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satellite imagery, pulled via Google Earth Engine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vegetation index separates forest from water and urban surfaces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Forest-cover masks generated for Chennai and Bengaluru across multiple years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 area, carbon stock, and CO₂ equivalent calculated for each city-year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23116" y="1325880"/>
            <a:ext cx="6334487" cy="5532120"/>
          </a:xfrm>
          <a:prstGeom prst="rect">
            <a:avLst/>
          </a:prstGeom>
          <a:solidFill>
            <a:srgbClr val="F0F0F0"/>
          </a:solidFill>
          <a:ln w="15875">
            <a:solidFill>
              <a:srgbClr val="BBBBBB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309360" y="3291840"/>
            <a:ext cx="5148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needed: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Single-year analysis view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(satellite + forest overlay) ]</a:t>
            </a:r>
            <a:endParaRPr lang="en-US" sz="1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43C3CFF-FBE1-CB0B-5BCF-6941980EEF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706" y="1464767"/>
            <a:ext cx="6088726" cy="52543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B474964-0270-02B3-3BCB-7A1990188E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397" y="4308716"/>
            <a:ext cx="4095258" cy="24752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TRAINING DATA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Years of Annual Satellite Data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learn real year-to-year change, we expanded from a few snapshot years to a complete annual series, 2016 to 2025, for both cities.</a:t>
            </a:r>
            <a:endParaRPr lang="en-US" sz="14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2148840"/>
          <a:ext cx="11091672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8D3D145-F873-5128-63F9-CD110BDB1F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7743" y="126125"/>
            <a:ext cx="1156498" cy="27755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and prediction, before the foundation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Forest Vegetation Index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FVI = (NIR + Green − Red − Blue) / (NIR + Green + Red + Blue)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Folds near-infrared into a single ratio, so water and vegetation separate in one pass. Replaces an earlier VARI + NDWI design that misclassified Chennai's coastline as forest.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17373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CA-ANN prediction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24028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signals, combined only at the final step: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changes — a historical Markov transition rate, filtered to mask pairs 3+ years apart to remove seasonal noise.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pixels change — a trained classifier ranks candidates within that budget.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ForestWatch India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455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— PART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“10 Years of Images” Actually Trains 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31176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1A6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18.87M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608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pixel-level training examples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55024"/>
            <a:ext cx="4511254" cy="2113368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55024"/>
            <a:ext cx="40966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annual satellite composites (2 cities × 10 years)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24966"/>
            <a:ext cx="32113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18 consecutive-year transition pairs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94908"/>
            <a:ext cx="2361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~1.05M pixels per pair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198886"/>
            <a:ext cx="42369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18.87M pixel-level examples, ~2.9% showing real change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890641" y="5885212"/>
            <a:ext cx="39965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never sees “10 images” as 10 data points. It sees a satellite composite's every pixel as one training row.</a:t>
            </a:r>
            <a:endParaRPr lang="en-US" sz="13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B20BDD-002A-A561-5D71-330C3F1BD38D}"/>
              </a:ext>
            </a:extLst>
          </p:cNvPr>
          <p:cNvSpPr txBox="1"/>
          <p:nvPr/>
        </p:nvSpPr>
        <p:spPr>
          <a:xfrm>
            <a:off x="5334214" y="1650921"/>
            <a:ext cx="664757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Why 20 images is enough (pixel-level training)</a:t>
            </a:r>
            <a:endParaRPr lang="en-IN" dirty="0"/>
          </a:p>
          <a:p>
            <a:pPr lvl="0"/>
            <a:r>
              <a:rPr lang="en-IN" dirty="0"/>
              <a:t>The network trains on </a:t>
            </a:r>
            <a:r>
              <a:rPr lang="en-IN" i="1" dirty="0"/>
              <a:t>pixels</a:t>
            </a:r>
            <a:r>
              <a:rPr lang="en-IN" dirty="0"/>
              <a:t>, not images. Each 1024×1024 mask = 1.05M individual training rows</a:t>
            </a:r>
          </a:p>
          <a:p>
            <a:pPr lvl="0"/>
            <a:r>
              <a:rPr lang="en-IN" dirty="0"/>
              <a:t>Each pixel's row: 4 local features (density at 3 scales + edge distance) + a label (did it change by next year?)</a:t>
            </a:r>
          </a:p>
          <a:p>
            <a:pPr lvl="0"/>
            <a:r>
              <a:rPr lang="en-IN" dirty="0"/>
              <a:t>18 year-pairs (9 years × 2 cities) × 1.05M pixels ≈ </a:t>
            </a:r>
            <a:r>
              <a:rPr lang="en-IN" b="1" dirty="0"/>
              <a:t>18.87M training examples</a:t>
            </a:r>
            <a:endParaRPr lang="en-IN" dirty="0"/>
          </a:p>
          <a:p>
            <a:pPr lvl="0"/>
            <a:r>
              <a:rPr lang="en-IN" dirty="0"/>
              <a:t>The network itself is tiny (~200 weights). Fitting a model that small on 18.87M rows is not a data-starvation problem</a:t>
            </a:r>
          </a:p>
          <a:p>
            <a:pPr lvl="0"/>
            <a:r>
              <a:rPr lang="en-IN" dirty="0"/>
              <a:t>Real constraint: only 18 </a:t>
            </a:r>
            <a:r>
              <a:rPr lang="en-IN" i="1" dirty="0"/>
              <a:t>independent structural transitions. M</a:t>
            </a:r>
            <a:r>
              <a:rPr lang="en-IN" dirty="0"/>
              <a:t>ore cities adds more of this; more pixels per existing city does not</a:t>
            </a:r>
          </a:p>
          <a:p>
            <a:endParaRPr lang="en-IN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DE011C-04BE-CD07-7FF9-923A2417820E}"/>
              </a:ext>
            </a:extLst>
          </p:cNvPr>
          <p:cNvSpPr txBox="1"/>
          <p:nvPr/>
        </p:nvSpPr>
        <p:spPr>
          <a:xfrm>
            <a:off x="441434" y="5013964"/>
            <a:ext cx="68264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Why training on Chennai + Bengaluru isn't "Chennai-only" or "Bengaluru-only"</a:t>
            </a:r>
            <a:endParaRPr lang="en-IN" dirty="0"/>
          </a:p>
          <a:p>
            <a:pPr lvl="0"/>
            <a:r>
              <a:rPr lang="en-IN" dirty="0"/>
              <a:t>The 4 input features carry no location info. No coordinates, no city ID, nothing that identifies </a:t>
            </a:r>
            <a:r>
              <a:rPr lang="en-IN" i="1" dirty="0"/>
              <a:t>where</a:t>
            </a:r>
            <a:r>
              <a:rPr lang="en-IN" dirty="0"/>
              <a:t> a pixel is</a:t>
            </a:r>
          </a:p>
          <a:p>
            <a:pPr lvl="0"/>
            <a:r>
              <a:rPr lang="en-IN" dirty="0"/>
              <a:t>A pixel with the same density/edge profile looks numerically identical to the network, whether it's from Chennai or Bengaluru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pipeline</a:t>
            </a:r>
            <a:endParaRPr lang="en-US" sz="3000" dirty="0"/>
          </a:p>
        </p:txBody>
      </p:sp>
      <p:pic>
        <p:nvPicPr>
          <p:cNvPr id="4" name="Image 0" descr="C:/Users/yuvra/AppData/Local/Temp/claude/c--Users-yuvra-OneDrive-Documents-GitHub-II-Forestwatch/ff02a2d7-eb81-44d6-a5c0-8c674637eb0b/images/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476" y="1325880"/>
            <a:ext cx="9144000" cy="457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foundation-model compute runs once, offline, per city-year. The live FastAPI backend only loads cached feature arrays and a small trained classifier.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ForestWatch India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CLAY V1.5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 frozen geospatial foundation model</a:t>
            </a:r>
            <a:endParaRPr lang="en-US" sz="3000" dirty="0"/>
          </a:p>
        </p:txBody>
      </p:sp>
      <p:pic>
        <p:nvPicPr>
          <p:cNvPr id="4" name="Image 0" descr="C:/Users/yuvra/AppData/Local/Temp/claude/c--Users-yuvra-OneDrive-Documents-GitHub-II-Forestwatch/ff02a2d7-eb81-44d6-a5c0-8c674637eb0b/images/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796" y="1417320"/>
            <a:ext cx="8595360" cy="48334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ForestWatch India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7455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217564" y="669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PREDICTION MODEL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7564" y="380341"/>
            <a:ext cx="59388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Architecture: Two Signals, Combined</a:t>
            </a:r>
            <a:endParaRPr lang="en-US" sz="3000" dirty="0"/>
          </a:p>
        </p:txBody>
      </p:sp>
      <p:pic>
        <p:nvPicPr>
          <p:cNvPr id="5" name="Image 0" descr="assets/ca_ann_architectu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83886" y="1696088"/>
            <a:ext cx="5549356" cy="393850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83886" y="1590730"/>
            <a:ext cx="5754307" cy="4043865"/>
          </a:xfrm>
          <a:prstGeom prst="rect">
            <a:avLst/>
          </a:prstGeom>
          <a:ln w="12700">
            <a:solidFill>
              <a:srgbClr val="DDDDDD"/>
            </a:solidFill>
            <a:prstDash val="solid"/>
          </a:ln>
        </p:spPr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21F86272-49FF-E483-8FBE-93FC9654BCE5}"/>
              </a:ext>
            </a:extLst>
          </p:cNvPr>
          <p:cNvSpPr txBox="1"/>
          <p:nvPr/>
        </p:nvSpPr>
        <p:spPr>
          <a:xfrm>
            <a:off x="12099089" y="7269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839A1A1F-5413-A7BE-2C66-63EEDD006FC2}"/>
              </a:ext>
            </a:extLst>
          </p:cNvPr>
          <p:cNvSpPr txBox="1"/>
          <p:nvPr/>
        </p:nvSpPr>
        <p:spPr>
          <a:xfrm>
            <a:off x="7587839" y="272753"/>
            <a:ext cx="3495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Network</a:t>
            </a:r>
            <a:endParaRPr lang="en-US" sz="3000" dirty="0"/>
          </a:p>
        </p:txBody>
      </p:sp>
      <p:pic>
        <p:nvPicPr>
          <p:cNvPr id="14" name="Image 0" descr="assets/mlp_network_diagram.png">
            <a:extLst>
              <a:ext uri="{FF2B5EF4-FFF2-40B4-BE49-F238E27FC236}">
                <a16:creationId xmlns:a16="http://schemas.microsoft.com/office/drawing/2014/main" id="{05DDCEC1-0686-8807-4989-D4A575179F0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05543" y="1801754"/>
            <a:ext cx="5437947" cy="3727174"/>
          </a:xfrm>
          <a:prstGeom prst="rect">
            <a:avLst/>
          </a:prstGeom>
        </p:spPr>
      </p:pic>
      <p:sp>
        <p:nvSpPr>
          <p:cNvPr id="16" name="Shape 3">
            <a:extLst>
              <a:ext uri="{FF2B5EF4-FFF2-40B4-BE49-F238E27FC236}">
                <a16:creationId xmlns:a16="http://schemas.microsoft.com/office/drawing/2014/main" id="{FA5D20E9-503B-131A-B09C-11F0A7A97CF1}"/>
              </a:ext>
            </a:extLst>
          </p:cNvPr>
          <p:cNvSpPr/>
          <p:nvPr/>
        </p:nvSpPr>
        <p:spPr>
          <a:xfrm>
            <a:off x="6605543" y="1590730"/>
            <a:ext cx="5549356" cy="4135305"/>
          </a:xfrm>
          <a:prstGeom prst="rect">
            <a:avLst/>
          </a:prstGeom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0761C7B6-43B7-7B47-BC9C-A8E9CC8D2EA5}"/>
              </a:ext>
            </a:extLst>
          </p:cNvPr>
          <p:cNvSpPr txBox="1"/>
          <p:nvPr/>
        </p:nvSpPr>
        <p:spPr>
          <a:xfrm>
            <a:off x="1281737" y="7044014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engineered features → 16 ReLU units → 8 ReLU units → 1 sigmoid output. A small, fully-connected feed-forward network — not a CNN, since the input is per-pixel engineered features, not raw image patches.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APPLICATION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Single-year detection</a:t>
            </a:r>
            <a:endParaRPr lang="en-US" sz="3000" dirty="0"/>
          </a:p>
        </p:txBody>
      </p:sp>
      <p:pic>
        <p:nvPicPr>
          <p:cNvPr id="4" name="Image 0" descr="C:/Users/yuvra/AppData/Local/Temp/claude/c--Users-yuvra-OneDrive-Documents-GitHub-II-Forestwatch/ff02a2d7-eb81-44d6-a5c0-8c674637eb0b/scratchpad/screenshots/01_single_y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315200" cy="4826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83880" y="1737360"/>
            <a:ext cx="3474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FVI + three-class Otsu threshold detects forest, bare land and water in one pass, reported with real hectares, carbon stock and fragmentation metrics.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ForestWatch India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APPLICATION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Multi-year change detection</a:t>
            </a:r>
            <a:endParaRPr lang="en-US" sz="3000" dirty="0"/>
          </a:p>
        </p:txBody>
      </p:sp>
      <p:pic>
        <p:nvPicPr>
          <p:cNvPr id="4" name="Image 0" descr="C:/Users/yuvra/AppData/Local/Temp/claude/c--Users-yuvra-OneDrive-Documents-GitHub-II-Forestwatch/ff02a2d7-eb81-44d6-a5c0-8c674637eb0b/scratchpad/screenshots/02_compare_ye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315200" cy="4826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83880" y="1737360"/>
            <a:ext cx="3474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Two-year diff with a minimum-mapping-unit filter to suppress boundary-flip noise, reporting a net change broken into gain and loss separately.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ForestWatch India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APPLICATION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prediction, with live validation</a:t>
            </a:r>
            <a:endParaRPr lang="en-US" sz="3000" dirty="0"/>
          </a:p>
        </p:txBody>
      </p:sp>
      <p:pic>
        <p:nvPicPr>
          <p:cNvPr id="4" name="Image 0" descr="C:/Users/yuvra/AppData/Local/Temp/claude/c--Users-yuvra-OneDrive-Documents-GitHub-II-Forestwatch/ff02a2d7-eb81-44d6-a5c0-8c674637eb0b/scratchpad/screenshots/03_predi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315200" cy="4826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83880" y="1737360"/>
            <a:ext cx="3474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CA-ANN ensemble's own walk-forward Kappa is shown directly in the UI alongside its prediction, not just in this report.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ForestWatch India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APPLICATION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 deforestation risk</a:t>
            </a:r>
            <a:endParaRPr lang="en-US" sz="3000" dirty="0"/>
          </a:p>
        </p:txBody>
      </p:sp>
      <p:pic>
        <p:nvPicPr>
          <p:cNvPr id="4" name="Image 0" descr="C:/Users/yuvra/AppData/Local/Temp/claude/c--Users-yuvra-OneDrive-Documents-GitHub-II-Forestwatch/ff02a2d7-eb81-44d6-a5c0-8c674637eb0b/scratchpad/screenshots/04_risk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315200" cy="4826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83880" y="1737360"/>
            <a:ext cx="3474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CA-ANN's calibrated change-probability, contrast-stretched within the current forest extent to surface relative risk.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ForestWatch India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APPLICATION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Conservation priority ranking</a:t>
            </a:r>
            <a:endParaRPr lang="en-US" sz="3000" dirty="0"/>
          </a:p>
        </p:txBody>
      </p:sp>
      <p:pic>
        <p:nvPicPr>
          <p:cNvPr id="4" name="Image 0" descr="C:/Users/yuvra/AppData/Local/Temp/claude/c--Users-yuvra-OneDrive-Documents-GitHub-II-Forestwatch/ff02a2d7-eb81-44d6-a5c0-8c674637eb0b/scratchpad/screenshots/05_conservation_prio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315200" cy="4826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83880" y="1737360"/>
            <a:ext cx="3474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ranked by size × mean risk, turning detection and prediction into an actionable, ranked list.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ForestWatch India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Walk-forward validation, Bengaluru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554480"/>
          <a:ext cx="73152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83880" y="1828800"/>
            <a:ext cx="3566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at 1, 3 and 6-year horizons via genuine walk-forward validation — trained only on years before a cutoff, scored against the real later year.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ensemble improves on the single-seed model at every horizon, after a measured instability (Kappa flipping sign across training runs) was diagnosed and corrected.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ForestWatch India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FOUNDATION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honest result: Clay helps one city, not four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600200"/>
          <a:ext cx="758952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412480" y="1828800"/>
            <a:ext cx="32918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across 4 cities, 3 embedding sizes and 2 regularisation strengths. Only Bengaluru shows a consistent benefit.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flips sign across training runs until an 8-seed ensemble stabilises it — the single most useful fix found.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honestly rather than adjusted after the fact, the same standard applied to every design decision in this project.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ForestWatch India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horizon: competitive. Long horizon: explainably lower.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600200"/>
          <a:ext cx="758952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412480" y="1828800"/>
            <a:ext cx="32918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studies validate genuine held-out future years, same standard used here.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Tehran study alone reports two model configurations five and a half Kappa points apart, so published CA-ANN accuracy already moves with modeling choices, not a single fixed bar to clear.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task is monotonic urban growth — built land rarely reverts. This work predicts bidirectional forest gain and loss, a structurally harder signal.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Short-horizon accuracy here is directly competitive. The long-horizon gap is reported plainly, with this likely explanation, not hidden.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ForestWatch India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E28895-478A-68A9-D1C4-354D2B2DA7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050" y="5505293"/>
            <a:ext cx="1162110" cy="50167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2A3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Reflectance pipeline corrected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measurement now rests on real Sentinel-2 surface reflectance, not a gamma-corrected display image.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2A3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CA-ANN validated honestly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08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at short horizons; the long-horizon gap against published monotonic-growth studies is explained, not hidden.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86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2A3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 model rigorously tested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51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Clay's embeddings help one of four cities. A diagnosed variance fix, not the raw embeddings, produced the project's strongest result.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2A3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as a working system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394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React, eight analysis modes, validated against an independent external reference (Hansen GFC).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1214</Words>
  <Application>Microsoft Office PowerPoint</Application>
  <PresentationFormat>Widescreen</PresentationFormat>
  <Paragraphs>155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Yuvraj Hajari</cp:lastModifiedBy>
  <cp:revision>2</cp:revision>
  <dcterms:created xsi:type="dcterms:W3CDTF">2026-10-12T13:10:24Z</dcterms:created>
  <dcterms:modified xsi:type="dcterms:W3CDTF">2026-10-12T15:57:43Z</dcterms:modified>
</cp:coreProperties>
</file>